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Arimo" panose="020B0604020202020204" charset="0"/>
      <p:bold r:id="rId10"/>
      <p:boldItalic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Montserrat" panose="020B0604020202020204" charset="0"/>
      <p:bold r:id="rId16"/>
      <p:boldItalic r:id="rId17"/>
    </p:embeddedFont>
    <p:embeddedFont>
      <p:font typeface="Raleway" panose="020B0604020202020204" charset="0"/>
      <p:bold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jlNwguV5eAsX1wS+wABVnMz+m0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1279" y="29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customschemas.google.com/relationships/presentationmetadata" Target="metadata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86" name="Google Shape;86;p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90" name="Google Shape;90;p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01" name="Google Shape;101;p2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05" name="Google Shape;105;p2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15" name="Google Shape;115;p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19" name="Google Shape;119;p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25" name="Google Shape;125;p4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29" name="Google Shape;129;p4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50" name="Google Shape;150;p5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1" name="Google Shape;151;p5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54" name="Google Shape;154;p5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62" name="Google Shape;162;p6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3" name="Google Shape;163;p6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6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6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66" name="Google Shape;166;p6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87" name="Google Shape;187;p7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88" name="Google Shape;188;p7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p7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91" name="Google Shape;191;p7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1"/>
          <p:cNvGrpSpPr/>
          <p:nvPr/>
        </p:nvGrpSpPr>
        <p:grpSpPr>
          <a:xfrm>
            <a:off x="-9525" y="-9525"/>
            <a:ext cx="18482215" cy="10306050"/>
            <a:chOff x="0" y="0"/>
            <a:chExt cx="24642953" cy="13741400"/>
          </a:xfrm>
        </p:grpSpPr>
        <p:sp>
          <p:nvSpPr>
            <p:cNvPr id="93" name="Google Shape;93;p1"/>
            <p:cNvSpPr/>
            <p:nvPr/>
          </p:nvSpPr>
          <p:spPr>
            <a:xfrm>
              <a:off x="12700" y="12700"/>
              <a:ext cx="24617553" cy="13716000"/>
            </a:xfrm>
            <a:custGeom>
              <a:avLst/>
              <a:gdLst/>
              <a:ahLst/>
              <a:cxnLst/>
              <a:rect l="l" t="t" r="r" b="b"/>
              <a:pathLst>
                <a:path w="24617553" h="13716000" extrusionOk="0">
                  <a:moveTo>
                    <a:pt x="0" y="0"/>
                  </a:moveTo>
                  <a:lnTo>
                    <a:pt x="24617553" y="0"/>
                  </a:lnTo>
                  <a:lnTo>
                    <a:pt x="24617553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94" name="Google Shape;94;p1"/>
            <p:cNvSpPr/>
            <p:nvPr/>
          </p:nvSpPr>
          <p:spPr>
            <a:xfrm>
              <a:off x="0" y="0"/>
              <a:ext cx="24642953" cy="13741400"/>
            </a:xfrm>
            <a:custGeom>
              <a:avLst/>
              <a:gdLst/>
              <a:ahLst/>
              <a:cxnLst/>
              <a:rect l="l" t="t" r="r" b="b"/>
              <a:pathLst>
                <a:path w="24642953" h="13741400" extrusionOk="0">
                  <a:moveTo>
                    <a:pt x="12700" y="0"/>
                  </a:moveTo>
                  <a:lnTo>
                    <a:pt x="24630253" y="0"/>
                  </a:lnTo>
                  <a:cubicBezTo>
                    <a:pt x="24637239" y="0"/>
                    <a:pt x="24642953" y="5715"/>
                    <a:pt x="24642953" y="12700"/>
                  </a:cubicBezTo>
                  <a:lnTo>
                    <a:pt x="24642953" y="13728700"/>
                  </a:lnTo>
                  <a:cubicBezTo>
                    <a:pt x="24642953" y="13735686"/>
                    <a:pt x="24637239" y="13741400"/>
                    <a:pt x="24630253" y="13741400"/>
                  </a:cubicBezTo>
                  <a:lnTo>
                    <a:pt x="12700" y="13741400"/>
                  </a:lnTo>
                  <a:cubicBezTo>
                    <a:pt x="5715" y="13741400"/>
                    <a:pt x="0" y="13735686"/>
                    <a:pt x="0" y="13728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3728700"/>
                  </a:lnTo>
                  <a:lnTo>
                    <a:pt x="12700" y="13728700"/>
                  </a:lnTo>
                  <a:lnTo>
                    <a:pt x="12700" y="13716000"/>
                  </a:lnTo>
                  <a:lnTo>
                    <a:pt x="24630253" y="13716000"/>
                  </a:lnTo>
                  <a:lnTo>
                    <a:pt x="24630253" y="13728700"/>
                  </a:lnTo>
                  <a:lnTo>
                    <a:pt x="24617553" y="13728700"/>
                  </a:lnTo>
                  <a:lnTo>
                    <a:pt x="24617553" y="12700"/>
                  </a:lnTo>
                  <a:lnTo>
                    <a:pt x="24630253" y="12700"/>
                  </a:lnTo>
                  <a:lnTo>
                    <a:pt x="24630253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F49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1"/>
          <p:cNvSpPr/>
          <p:nvPr/>
        </p:nvSpPr>
        <p:spPr>
          <a:xfrm>
            <a:off x="36744" y="-9525"/>
            <a:ext cx="18463200" cy="10287000"/>
          </a:xfrm>
          <a:custGeom>
            <a:avLst/>
            <a:gdLst/>
            <a:ahLst/>
            <a:cxnLst/>
            <a:rect l="l" t="t" r="r" b="b"/>
            <a:pathLst>
              <a:path w="18463200" h="10287000" extrusionOk="0">
                <a:moveTo>
                  <a:pt x="0" y="0"/>
                </a:moveTo>
                <a:lnTo>
                  <a:pt x="18463200" y="0"/>
                </a:lnTo>
                <a:lnTo>
                  <a:pt x="184632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478" b="-477"/>
            </a:stretch>
          </a:blipFill>
          <a:ln>
            <a:noFill/>
          </a:ln>
        </p:spPr>
        <p:txBody>
          <a:bodyPr/>
          <a:lstStyle/>
          <a:p>
            <a:r>
              <a:rPr lang="en-US" dirty="0" smtClean="0"/>
              <a:t>-_---</a:t>
            </a:r>
            <a:r>
              <a:rPr lang="en-US" dirty="0" err="1" smtClean="0"/>
              <a:t>huuoujbixouoyuou</a:t>
            </a:r>
            <a:endParaRPr lang="en-US" dirty="0"/>
          </a:p>
        </p:txBody>
      </p:sp>
      <p:sp>
        <p:nvSpPr>
          <p:cNvPr id="96" name="Google Shape;96;p1"/>
          <p:cNvSpPr txBox="1"/>
          <p:nvPr/>
        </p:nvSpPr>
        <p:spPr>
          <a:xfrm>
            <a:off x="441457" y="7590062"/>
            <a:ext cx="18733700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7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                             </a:t>
            </a:r>
            <a:r>
              <a:rPr lang="en-US" sz="6000" b="1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Code fusion -</a:t>
            </a:r>
            <a:r>
              <a:rPr lang="en-US" sz="4800" b="1" i="0" u="none" strike="noStrike" cap="none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Team </a:t>
            </a:r>
            <a:r>
              <a:rPr lang="en-US" sz="48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Name</a:t>
            </a:r>
            <a:endParaRPr sz="4800" dirty="0"/>
          </a:p>
        </p:txBody>
      </p:sp>
      <p:sp>
        <p:nvSpPr>
          <p:cNvPr id="97" name="Google Shape;97;p1"/>
          <p:cNvSpPr txBox="1"/>
          <p:nvPr/>
        </p:nvSpPr>
        <p:spPr>
          <a:xfrm>
            <a:off x="695182" y="848252"/>
            <a:ext cx="18226251" cy="5244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sz="6800" b="1" i="0" u="none" strike="noStrike" cap="none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Project Title</a:t>
            </a:r>
            <a:r>
              <a:rPr lang="en-US" sz="6800" b="1" i="0" u="none" strike="noStrike" cap="none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:-</a:t>
            </a:r>
          </a:p>
          <a:p>
            <a:pPr lvl="0">
              <a:lnSpc>
                <a:spcPct val="120000"/>
              </a:lnSpc>
            </a:pPr>
            <a:r>
              <a:rPr lang="en-US" sz="8000" b="1" dirty="0" err="1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LifeLink</a:t>
            </a:r>
            <a:r>
              <a:rPr lang="en-US" sz="6800" b="1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–        </a:t>
            </a:r>
            <a:r>
              <a:rPr lang="en-US" sz="6800" b="1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Real-Time Healthcare Coordination &amp; Emergency Response </a:t>
            </a:r>
            <a:r>
              <a:rPr lang="en-US" sz="6800" b="1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Platform.</a:t>
            </a:r>
            <a:endParaRPr dirty="0"/>
          </a:p>
        </p:txBody>
      </p:sp>
      <p:pic>
        <p:nvPicPr>
          <p:cNvPr id="98" name="Google Shape;98;p1" title="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8992925"/>
            <a:ext cx="3119526" cy="129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/>
          <p:nvPr/>
        </p:nvSpPr>
        <p:spPr>
          <a:xfrm>
            <a:off x="0" y="-325488"/>
            <a:ext cx="18288000" cy="7336074"/>
          </a:xfrm>
          <a:custGeom>
            <a:avLst/>
            <a:gdLst/>
            <a:ahLst/>
            <a:cxnLst/>
            <a:rect l="l" t="t" r="r" b="b"/>
            <a:pathLst>
              <a:path w="18288000" h="7336074" extrusionOk="0">
                <a:moveTo>
                  <a:pt x="0" y="0"/>
                </a:moveTo>
                <a:lnTo>
                  <a:pt x="18288000" y="0"/>
                </a:lnTo>
                <a:lnTo>
                  <a:pt x="18288000" y="7336074"/>
                </a:lnTo>
                <a:lnTo>
                  <a:pt x="0" y="73360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8" name="Google Shape;108;p2"/>
          <p:cNvSpPr/>
          <p:nvPr/>
        </p:nvSpPr>
        <p:spPr>
          <a:xfrm>
            <a:off x="0" y="0"/>
            <a:ext cx="18288000" cy="7010590"/>
          </a:xfrm>
          <a:custGeom>
            <a:avLst/>
            <a:gdLst/>
            <a:ahLst/>
            <a:cxnLst/>
            <a:rect l="l" t="t" r="r" b="b"/>
            <a:pathLst>
              <a:path w="24384000" h="9347454" extrusionOk="0">
                <a:moveTo>
                  <a:pt x="0" y="0"/>
                </a:moveTo>
                <a:lnTo>
                  <a:pt x="24384000" y="0"/>
                </a:lnTo>
                <a:lnTo>
                  <a:pt x="24384000" y="9347454"/>
                </a:lnTo>
                <a:lnTo>
                  <a:pt x="0" y="93474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2999"/>
            </a:blip>
            <a:stretch>
              <a:fillRect t="-23402" b="-23402"/>
            </a:stretch>
          </a:blipFill>
          <a:ln>
            <a:noFill/>
          </a:ln>
        </p:spPr>
      </p:sp>
      <p:sp>
        <p:nvSpPr>
          <p:cNvPr id="109" name="Google Shape;109;p2"/>
          <p:cNvSpPr/>
          <p:nvPr/>
        </p:nvSpPr>
        <p:spPr>
          <a:xfrm>
            <a:off x="425193" y="0"/>
            <a:ext cx="18450636" cy="11253120"/>
          </a:xfrm>
          <a:custGeom>
            <a:avLst/>
            <a:gdLst/>
            <a:ahLst/>
            <a:cxnLst/>
            <a:rect l="l" t="t" r="r" b="b"/>
            <a:pathLst>
              <a:path w="16688938" h="9021318" extrusionOk="0">
                <a:moveTo>
                  <a:pt x="0" y="0"/>
                </a:moveTo>
                <a:lnTo>
                  <a:pt x="16688938" y="0"/>
                </a:lnTo>
                <a:lnTo>
                  <a:pt x="16688938" y="9021318"/>
                </a:lnTo>
                <a:lnTo>
                  <a:pt x="0" y="90213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0" name="Google Shape;110;p2"/>
          <p:cNvSpPr txBox="1"/>
          <p:nvPr/>
        </p:nvSpPr>
        <p:spPr>
          <a:xfrm>
            <a:off x="1332611" y="1117303"/>
            <a:ext cx="15194550" cy="10489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sng" strike="noStrike" cap="none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Problem </a:t>
            </a:r>
            <a:r>
              <a:rPr lang="en-US" sz="6000" b="1" i="0" u="sng" strike="noStrike" cap="none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Statement:-</a:t>
            </a:r>
          </a:p>
          <a:p>
            <a:pPr lvl="0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Raleway"/>
                <a:sym typeface="Raleway"/>
              </a:rPr>
              <a:t>In medical emergencies and critical care situations, patients and families lose valuable time because accurate, real-time healthcare information is not available in one place.</a:t>
            </a:r>
          </a:p>
          <a:p>
            <a:pPr lvl="0">
              <a:lnSpc>
                <a:spcPct val="120000"/>
              </a:lnSpc>
            </a:pPr>
            <a:endParaRPr lang="en-US" sz="3200" b="1" dirty="0">
              <a:solidFill>
                <a:srgbClr val="FFFFFF"/>
              </a:solidFill>
              <a:latin typeface="Raleway"/>
              <a:sym typeface="Raleway"/>
            </a:endParaRPr>
          </a:p>
          <a:p>
            <a:pPr lvl="0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Raleway"/>
                <a:sym typeface="Raleway"/>
              </a:rPr>
              <a:t>Hospitals, doctors, blood resources, and donors operate independently, making it difficult to:</a:t>
            </a:r>
          </a:p>
          <a:p>
            <a:pPr lvl="0">
              <a:lnSpc>
                <a:spcPct val="120000"/>
              </a:lnSpc>
            </a:pPr>
            <a:endParaRPr lang="en-US" sz="3200" b="1" dirty="0">
              <a:solidFill>
                <a:srgbClr val="FFFFFF"/>
              </a:solidFill>
              <a:latin typeface="Raleway"/>
              <a:sym typeface="Raleway"/>
            </a:endParaRPr>
          </a:p>
          <a:p>
            <a:pPr lvl="0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Raleway"/>
                <a:sym typeface="Raleway"/>
              </a:rPr>
              <a:t>Identify hospitals that are actually ready</a:t>
            </a:r>
          </a:p>
          <a:p>
            <a:pPr lvl="0">
              <a:lnSpc>
                <a:spcPct val="120000"/>
              </a:lnSpc>
            </a:pPr>
            <a:endParaRPr lang="en-US" sz="3200" b="1" dirty="0">
              <a:solidFill>
                <a:srgbClr val="FFFFFF"/>
              </a:solidFill>
              <a:latin typeface="Raleway"/>
              <a:sym typeface="Raleway"/>
            </a:endParaRPr>
          </a:p>
          <a:p>
            <a:pPr lvl="0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Raleway"/>
                <a:sym typeface="Raleway"/>
              </a:rPr>
              <a:t>Access required blood or organs on time</a:t>
            </a:r>
          </a:p>
          <a:p>
            <a:pPr lvl="0">
              <a:lnSpc>
                <a:spcPct val="120000"/>
              </a:lnSpc>
            </a:pPr>
            <a:endParaRPr lang="en-US" sz="3200" b="1" dirty="0">
              <a:solidFill>
                <a:srgbClr val="FFFFFF"/>
              </a:solidFill>
              <a:latin typeface="Raleway"/>
              <a:sym typeface="Raleway"/>
            </a:endParaRPr>
          </a:p>
          <a:p>
            <a:pPr lvl="0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Raleway"/>
                <a:sym typeface="Raleway"/>
              </a:rPr>
              <a:t>Get immediate medical support at the patient’s location</a:t>
            </a:r>
          </a:p>
          <a:p>
            <a:pPr lvl="0">
              <a:lnSpc>
                <a:spcPct val="120000"/>
              </a:lnSpc>
            </a:pPr>
            <a:endParaRPr lang="en-US" sz="3200" b="1" dirty="0">
              <a:solidFill>
                <a:srgbClr val="FFFFFF"/>
              </a:solidFill>
              <a:latin typeface="Raleway"/>
              <a:sym typeface="Raleway"/>
            </a:endParaRPr>
          </a:p>
          <a:p>
            <a:pPr lvl="0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Raleway"/>
                <a:sym typeface="Raleway"/>
              </a:rPr>
              <a:t>This lack of coordination directly impacts patient outcomes.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200" b="1" dirty="0" smtClean="0">
              <a:solidFill>
                <a:srgbClr val="FFFFFF"/>
              </a:solidFill>
              <a:latin typeface="Raleway"/>
              <a:sym typeface="Raleway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/>
          </a:p>
        </p:txBody>
      </p:sp>
      <p:pic>
        <p:nvPicPr>
          <p:cNvPr id="112" name="Google Shape;112;p2" title="log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625350" y="959950"/>
            <a:ext cx="3119526" cy="129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 txBox="1"/>
          <p:nvPr/>
        </p:nvSpPr>
        <p:spPr>
          <a:xfrm>
            <a:off x="965900" y="0"/>
            <a:ext cx="13565400" cy="10415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 i="0" u="none" strike="noStrike" cap="none" dirty="0" smtClean="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Solution:- </a:t>
            </a:r>
          </a:p>
          <a:p>
            <a:pPr lvl="0">
              <a:lnSpc>
                <a:spcPct val="120000"/>
              </a:lnSpc>
            </a:pPr>
            <a:r>
              <a:rPr lang="en-US" sz="3200" dirty="0" err="1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LifeLink</a:t>
            </a:r>
            <a:r>
              <a:rPr lang="en-US" sz="3200" dirty="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 is a centralized digital healthcare platform that connects hospitals, doctors, donors, and patients into a real-time coordination network.</a:t>
            </a:r>
          </a:p>
          <a:p>
            <a:pPr lvl="0">
              <a:lnSpc>
                <a:spcPct val="120000"/>
              </a:lnSpc>
            </a:pPr>
            <a:endParaRPr lang="en-US" sz="3200" dirty="0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lvl="0">
              <a:lnSpc>
                <a:spcPct val="120000"/>
              </a:lnSpc>
            </a:pPr>
            <a:r>
              <a:rPr lang="en-US" sz="3200" dirty="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Key capabilities include:</a:t>
            </a:r>
          </a:p>
          <a:p>
            <a:pPr lvl="0">
              <a:lnSpc>
                <a:spcPct val="120000"/>
              </a:lnSpc>
            </a:pPr>
            <a:endParaRPr lang="en-US" sz="3200" dirty="0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lvl="0">
              <a:lnSpc>
                <a:spcPct val="120000"/>
              </a:lnSpc>
            </a:pPr>
            <a:r>
              <a:rPr lang="en-US" sz="3200" dirty="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Live blood and organ exchange between hospitals</a:t>
            </a:r>
          </a:p>
          <a:p>
            <a:pPr lvl="0">
              <a:lnSpc>
                <a:spcPct val="120000"/>
              </a:lnSpc>
            </a:pPr>
            <a:endParaRPr lang="en-US" sz="3200" dirty="0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lvl="0">
              <a:lnSpc>
                <a:spcPct val="120000"/>
              </a:lnSpc>
            </a:pPr>
            <a:r>
              <a:rPr lang="en-US" sz="3200" dirty="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Emergency doctor booking based on location and availability</a:t>
            </a:r>
          </a:p>
          <a:p>
            <a:pPr lvl="0">
              <a:lnSpc>
                <a:spcPct val="120000"/>
              </a:lnSpc>
            </a:pPr>
            <a:endParaRPr lang="en-US" sz="3200" dirty="0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lvl="0">
              <a:lnSpc>
                <a:spcPct val="120000"/>
              </a:lnSpc>
            </a:pPr>
            <a:r>
              <a:rPr lang="en-US" sz="3200" dirty="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Demand-driven donation slots with ethical benefits</a:t>
            </a:r>
          </a:p>
          <a:p>
            <a:pPr lvl="0">
              <a:lnSpc>
                <a:spcPct val="120000"/>
              </a:lnSpc>
            </a:pPr>
            <a:endParaRPr lang="en-US" sz="3200" dirty="0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lvl="0">
              <a:lnSpc>
                <a:spcPct val="120000"/>
              </a:lnSpc>
            </a:pPr>
            <a:r>
              <a:rPr lang="en-US" sz="3200" dirty="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Transparent history of platform impact</a:t>
            </a:r>
          </a:p>
          <a:p>
            <a:pPr lvl="0">
              <a:lnSpc>
                <a:spcPct val="120000"/>
              </a:lnSpc>
            </a:pPr>
            <a:endParaRPr lang="en-US" sz="3200" dirty="0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lvl="0">
              <a:lnSpc>
                <a:spcPct val="120000"/>
              </a:lnSpc>
            </a:pPr>
            <a:r>
              <a:rPr lang="en-US" sz="3200" dirty="0" err="1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LifeLink</a:t>
            </a:r>
            <a:r>
              <a:rPr lang="en-US" sz="3200" dirty="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 transforms healthcare from reactive searching to proactive coordination</a:t>
            </a:r>
            <a:r>
              <a:rPr lang="en-US" sz="2800" dirty="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endParaRPr lang="en-US" sz="2800" i="0" u="none" strike="noStrike" cap="none" dirty="0" smtClean="0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22" name="Google Shape;122;p3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31300" y="591050"/>
            <a:ext cx="3119526" cy="129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/>
          <p:cNvSpPr/>
          <p:nvPr/>
        </p:nvSpPr>
        <p:spPr>
          <a:xfrm>
            <a:off x="0" y="-325480"/>
            <a:ext cx="18287636" cy="7335930"/>
          </a:xfrm>
          <a:custGeom>
            <a:avLst/>
            <a:gdLst/>
            <a:ahLst/>
            <a:cxnLst/>
            <a:rect l="l" t="t" r="r" b="b"/>
            <a:pathLst>
              <a:path w="18287636" h="7335930" extrusionOk="0">
                <a:moveTo>
                  <a:pt x="0" y="0"/>
                </a:moveTo>
                <a:lnTo>
                  <a:pt x="18287636" y="0"/>
                </a:lnTo>
                <a:lnTo>
                  <a:pt x="18287636" y="7335930"/>
                </a:lnTo>
                <a:lnTo>
                  <a:pt x="0" y="7335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2" name="Google Shape;132;p4"/>
          <p:cNvSpPr/>
          <p:nvPr/>
        </p:nvSpPr>
        <p:spPr>
          <a:xfrm>
            <a:off x="0" y="0"/>
            <a:ext cx="18288000" cy="7010590"/>
          </a:xfrm>
          <a:custGeom>
            <a:avLst/>
            <a:gdLst/>
            <a:ahLst/>
            <a:cxnLst/>
            <a:rect l="l" t="t" r="r" b="b"/>
            <a:pathLst>
              <a:path w="24384000" h="9347454" extrusionOk="0">
                <a:moveTo>
                  <a:pt x="0" y="0"/>
                </a:moveTo>
                <a:lnTo>
                  <a:pt x="24384000" y="0"/>
                </a:lnTo>
                <a:lnTo>
                  <a:pt x="24384000" y="9347454"/>
                </a:lnTo>
                <a:lnTo>
                  <a:pt x="0" y="93474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3000"/>
            </a:blip>
            <a:stretch>
              <a:fillRect t="-23402" b="-23402"/>
            </a:stretch>
          </a:blipFill>
          <a:ln>
            <a:noFill/>
          </a:ln>
        </p:spPr>
      </p:sp>
      <p:sp>
        <p:nvSpPr>
          <p:cNvPr id="133" name="Google Shape;133;p4"/>
          <p:cNvSpPr/>
          <p:nvPr/>
        </p:nvSpPr>
        <p:spPr>
          <a:xfrm>
            <a:off x="599365" y="353208"/>
            <a:ext cx="16689886" cy="9021318"/>
          </a:xfrm>
          <a:custGeom>
            <a:avLst/>
            <a:gdLst/>
            <a:ahLst/>
            <a:cxnLst/>
            <a:rect l="l" t="t" r="r" b="b"/>
            <a:pathLst>
              <a:path w="16689886" h="9021318" extrusionOk="0">
                <a:moveTo>
                  <a:pt x="0" y="0"/>
                </a:moveTo>
                <a:lnTo>
                  <a:pt x="16689886" y="0"/>
                </a:lnTo>
                <a:lnTo>
                  <a:pt x="16689886" y="9021318"/>
                </a:lnTo>
                <a:lnTo>
                  <a:pt x="0" y="90213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4" name="Google Shape;134;p4"/>
          <p:cNvSpPr txBox="1"/>
          <p:nvPr/>
        </p:nvSpPr>
        <p:spPr>
          <a:xfrm>
            <a:off x="1546543" y="1312234"/>
            <a:ext cx="15194550" cy="10193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sng" strike="noStrike" cap="none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Dependencies:-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200" b="1" dirty="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lvl="0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Participation from hospitals for live data sharing</a:t>
            </a:r>
          </a:p>
          <a:p>
            <a:pPr lvl="0">
              <a:lnSpc>
                <a:spcPct val="120000"/>
              </a:lnSpc>
            </a:pPr>
            <a:endParaRPr lang="en-US" sz="3200" b="1" dirty="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lvl="0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Verified onboarding of doctors and donors</a:t>
            </a:r>
          </a:p>
          <a:p>
            <a:pPr lvl="0">
              <a:lnSpc>
                <a:spcPct val="120000"/>
              </a:lnSpc>
            </a:pPr>
            <a:endParaRPr lang="en-US" sz="3200" b="1" dirty="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lvl="0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Reliable location and notification </a:t>
            </a:r>
            <a:r>
              <a:rPr lang="en-US" sz="3200" b="1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services</a:t>
            </a:r>
          </a:p>
          <a:p>
            <a:pPr lvl="0">
              <a:lnSpc>
                <a:spcPct val="120000"/>
              </a:lnSpc>
            </a:pPr>
            <a:endParaRPr lang="en-US" sz="3200" b="1" i="0" u="none" strike="noStrike" cap="none" dirty="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lvl="0">
              <a:lnSpc>
                <a:spcPct val="120000"/>
              </a:lnSpc>
            </a:pPr>
            <a:r>
              <a:rPr lang="en-US" sz="3600" b="1" u="sng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Showstopper:-</a:t>
            </a:r>
          </a:p>
          <a:p>
            <a:pPr lvl="0">
              <a:lnSpc>
                <a:spcPct val="120000"/>
              </a:lnSpc>
            </a:pPr>
            <a:endParaRPr lang="en-US" sz="3200" b="1" i="0" u="none" strike="noStrike" cap="none" dirty="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lvl="0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Regulatory compliance for organ exchange</a:t>
            </a:r>
          </a:p>
          <a:p>
            <a:pPr lvl="0">
              <a:lnSpc>
                <a:spcPct val="120000"/>
              </a:lnSpc>
            </a:pPr>
            <a:endParaRPr lang="en-US" sz="3200" b="1" dirty="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lvl="0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Ensuring data accuracy across institutions</a:t>
            </a:r>
          </a:p>
          <a:p>
            <a:pPr lvl="0">
              <a:lnSpc>
                <a:spcPct val="120000"/>
              </a:lnSpc>
            </a:pPr>
            <a:endParaRPr lang="en-US" sz="3200" b="1" dirty="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lvl="0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These challenges are addressed through rule-based workflows, </a:t>
            </a:r>
            <a:r>
              <a:rPr lang="en-US" sz="3200" b="1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consent-</a:t>
            </a:r>
            <a:r>
              <a:rPr lang="en-US" sz="3200" b="1" dirty="0" err="1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dr</a:t>
            </a:r>
            <a:endParaRPr lang="en-US" sz="3200" dirty="0" smtClean="0"/>
          </a:p>
          <a:p>
            <a:pPr lvl="0">
              <a:lnSpc>
                <a:spcPct val="120000"/>
              </a:lnSpc>
            </a:pPr>
            <a:endParaRPr lang="en-US" sz="3200" dirty="0"/>
          </a:p>
          <a:p>
            <a:pPr lvl="0">
              <a:lnSpc>
                <a:spcPct val="120000"/>
              </a:lnSpc>
            </a:pPr>
            <a:endParaRPr sz="3200" dirty="0"/>
          </a:p>
        </p:txBody>
      </p:sp>
      <p:grpSp>
        <p:nvGrpSpPr>
          <p:cNvPr id="135" name="Google Shape;135;p4"/>
          <p:cNvGrpSpPr/>
          <p:nvPr/>
        </p:nvGrpSpPr>
        <p:grpSpPr>
          <a:xfrm>
            <a:off x="4452433" y="11161720"/>
            <a:ext cx="7863943" cy="4163796"/>
            <a:chOff x="0" y="0"/>
            <a:chExt cx="10485257" cy="5551728"/>
          </a:xfrm>
        </p:grpSpPr>
        <p:sp>
          <p:nvSpPr>
            <p:cNvPr id="136" name="Google Shape;136;p4"/>
            <p:cNvSpPr/>
            <p:nvPr/>
          </p:nvSpPr>
          <p:spPr>
            <a:xfrm>
              <a:off x="0" y="0"/>
              <a:ext cx="876808" cy="876808"/>
            </a:xfrm>
            <a:custGeom>
              <a:avLst/>
              <a:gdLst/>
              <a:ahLst/>
              <a:cxnLst/>
              <a:rect l="l" t="t" r="r" b="b"/>
              <a:pathLst>
                <a:path w="876808" h="876808" extrusionOk="0">
                  <a:moveTo>
                    <a:pt x="0" y="438404"/>
                  </a:moveTo>
                  <a:cubicBezTo>
                    <a:pt x="0" y="196215"/>
                    <a:pt x="196215" y="0"/>
                    <a:pt x="438404" y="0"/>
                  </a:cubicBezTo>
                  <a:cubicBezTo>
                    <a:pt x="680593" y="0"/>
                    <a:pt x="876808" y="196215"/>
                    <a:pt x="876808" y="438404"/>
                  </a:cubicBezTo>
                  <a:cubicBezTo>
                    <a:pt x="876808" y="680593"/>
                    <a:pt x="680466" y="876808"/>
                    <a:pt x="438404" y="876808"/>
                  </a:cubicBezTo>
                  <a:cubicBezTo>
                    <a:pt x="196342" y="876808"/>
                    <a:pt x="0" y="680466"/>
                    <a:pt x="0" y="438404"/>
                  </a:cubicBezTo>
                  <a:close/>
                </a:path>
              </a:pathLst>
            </a:custGeom>
            <a:solidFill>
              <a:srgbClr val="F646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4"/>
            <p:cNvSpPr txBox="1"/>
            <p:nvPr/>
          </p:nvSpPr>
          <p:spPr>
            <a:xfrm>
              <a:off x="9608457" y="4636828"/>
              <a:ext cx="876800" cy="91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38" name="Google Shape;138;p4"/>
          <p:cNvGrpSpPr/>
          <p:nvPr/>
        </p:nvGrpSpPr>
        <p:grpSpPr>
          <a:xfrm>
            <a:off x="5693404" y="11504804"/>
            <a:ext cx="657606" cy="686181"/>
            <a:chOff x="0" y="-38100"/>
            <a:chExt cx="876808" cy="914908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876808" cy="876808"/>
            </a:xfrm>
            <a:custGeom>
              <a:avLst/>
              <a:gdLst/>
              <a:ahLst/>
              <a:cxnLst/>
              <a:rect l="l" t="t" r="r" b="b"/>
              <a:pathLst>
                <a:path w="876808" h="876808" extrusionOk="0">
                  <a:moveTo>
                    <a:pt x="0" y="438404"/>
                  </a:moveTo>
                  <a:cubicBezTo>
                    <a:pt x="0" y="196215"/>
                    <a:pt x="196215" y="0"/>
                    <a:pt x="438404" y="0"/>
                  </a:cubicBezTo>
                  <a:cubicBezTo>
                    <a:pt x="680593" y="0"/>
                    <a:pt x="876808" y="196215"/>
                    <a:pt x="876808" y="438404"/>
                  </a:cubicBezTo>
                  <a:cubicBezTo>
                    <a:pt x="876808" y="680593"/>
                    <a:pt x="680466" y="876808"/>
                    <a:pt x="438404" y="876808"/>
                  </a:cubicBezTo>
                  <a:cubicBezTo>
                    <a:pt x="196342" y="876808"/>
                    <a:pt x="0" y="680466"/>
                    <a:pt x="0" y="438404"/>
                  </a:cubicBezTo>
                  <a:close/>
                </a:path>
              </a:pathLst>
            </a:custGeom>
            <a:solidFill>
              <a:srgbClr val="F646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-38100"/>
              <a:ext cx="876800" cy="91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144" name="Google Shape;144;p4"/>
          <p:cNvGrpSpPr/>
          <p:nvPr/>
        </p:nvGrpSpPr>
        <p:grpSpPr>
          <a:xfrm>
            <a:off x="3378903" y="11161720"/>
            <a:ext cx="657606" cy="686181"/>
            <a:chOff x="0" y="-38100"/>
            <a:chExt cx="876808" cy="914908"/>
          </a:xfrm>
        </p:grpSpPr>
        <p:sp>
          <p:nvSpPr>
            <p:cNvPr id="145" name="Google Shape;145;p4"/>
            <p:cNvSpPr/>
            <p:nvPr/>
          </p:nvSpPr>
          <p:spPr>
            <a:xfrm>
              <a:off x="0" y="0"/>
              <a:ext cx="876808" cy="876808"/>
            </a:xfrm>
            <a:custGeom>
              <a:avLst/>
              <a:gdLst/>
              <a:ahLst/>
              <a:cxnLst/>
              <a:rect l="l" t="t" r="r" b="b"/>
              <a:pathLst>
                <a:path w="876808" h="876808" extrusionOk="0">
                  <a:moveTo>
                    <a:pt x="0" y="438404"/>
                  </a:moveTo>
                  <a:cubicBezTo>
                    <a:pt x="0" y="196215"/>
                    <a:pt x="196215" y="0"/>
                    <a:pt x="438404" y="0"/>
                  </a:cubicBezTo>
                  <a:cubicBezTo>
                    <a:pt x="680593" y="0"/>
                    <a:pt x="876808" y="196215"/>
                    <a:pt x="876808" y="438404"/>
                  </a:cubicBezTo>
                  <a:cubicBezTo>
                    <a:pt x="876808" y="680593"/>
                    <a:pt x="680466" y="876808"/>
                    <a:pt x="438404" y="876808"/>
                  </a:cubicBezTo>
                  <a:cubicBezTo>
                    <a:pt x="196342" y="876808"/>
                    <a:pt x="0" y="680466"/>
                    <a:pt x="0" y="438404"/>
                  </a:cubicBezTo>
                  <a:close/>
                </a:path>
              </a:pathLst>
            </a:custGeom>
            <a:solidFill>
              <a:srgbClr val="F646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4"/>
            <p:cNvSpPr txBox="1"/>
            <p:nvPr/>
          </p:nvSpPr>
          <p:spPr>
            <a:xfrm>
              <a:off x="0" y="-38100"/>
              <a:ext cx="876800" cy="91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 dirty="0" smtClean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efegrtqh4</a:t>
              </a:r>
              <a:endParaRPr dirty="0"/>
            </a:p>
          </p:txBody>
        </p:sp>
      </p:grpSp>
      <p:pic>
        <p:nvPicPr>
          <p:cNvPr id="147" name="Google Shape;147;p4" title="log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409200" y="802025"/>
            <a:ext cx="3119526" cy="129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"/>
          <p:cNvSpPr/>
          <p:nvPr/>
        </p:nvSpPr>
        <p:spPr>
          <a:xfrm>
            <a:off x="0" y="2"/>
            <a:ext cx="18288000" cy="10286998"/>
          </a:xfrm>
          <a:custGeom>
            <a:avLst/>
            <a:gdLst/>
            <a:ahLst/>
            <a:cxnLst/>
            <a:rect l="l" t="t" r="r" b="b"/>
            <a:pathLst>
              <a:path w="18288000" h="10286998" extrusionOk="0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7" name="Google Shape;157;p5"/>
          <p:cNvSpPr/>
          <p:nvPr/>
        </p:nvSpPr>
        <p:spPr>
          <a:xfrm>
            <a:off x="0" y="-786815"/>
            <a:ext cx="18288000" cy="12692983"/>
          </a:xfrm>
          <a:custGeom>
            <a:avLst/>
            <a:gdLst/>
            <a:ahLst/>
            <a:cxnLst/>
            <a:rect l="l" t="t" r="r" b="b"/>
            <a:pathLst>
              <a:path w="24384000" h="13722144" extrusionOk="0">
                <a:moveTo>
                  <a:pt x="0" y="0"/>
                </a:moveTo>
                <a:lnTo>
                  <a:pt x="24384000" y="0"/>
                </a:lnTo>
                <a:lnTo>
                  <a:pt x="24384000" y="13722144"/>
                </a:lnTo>
                <a:lnTo>
                  <a:pt x="0" y="13722144"/>
                </a:lnTo>
                <a:close/>
              </a:path>
            </a:pathLst>
          </a:custGeom>
          <a:solidFill>
            <a:srgbClr val="C7243D"/>
          </a:solidFill>
          <a:ln>
            <a:noFill/>
          </a:ln>
        </p:spPr>
      </p:sp>
      <p:sp>
        <p:nvSpPr>
          <p:cNvPr id="158" name="Google Shape;158;p5"/>
          <p:cNvSpPr txBox="1"/>
          <p:nvPr/>
        </p:nvSpPr>
        <p:spPr>
          <a:xfrm>
            <a:off x="1182395" y="2"/>
            <a:ext cx="13012576" cy="10932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sng" strike="noStrike" cap="none" dirty="0" smtClean="0">
                <a:solidFill>
                  <a:srgbClr val="EEECE1"/>
                </a:solidFill>
                <a:latin typeface="Arimo"/>
                <a:ea typeface="Arimo"/>
                <a:cs typeface="Arimo"/>
                <a:sym typeface="Arimo"/>
              </a:rPr>
              <a:t>Highlights/Difference between </a:t>
            </a:r>
            <a:r>
              <a:rPr lang="en-US" sz="4000" b="1" i="0" u="sng" strike="noStrike" cap="none" dirty="0" err="1" smtClean="0">
                <a:solidFill>
                  <a:srgbClr val="EEECE1"/>
                </a:solidFill>
                <a:latin typeface="Arimo"/>
                <a:ea typeface="Arimo"/>
                <a:cs typeface="Arimo"/>
                <a:sym typeface="Arimo"/>
              </a:rPr>
              <a:t>exisiting</a:t>
            </a:r>
            <a:r>
              <a:rPr lang="en-US" sz="4000" b="1" i="0" u="sng" strike="noStrike" cap="none" dirty="0" smtClean="0">
                <a:solidFill>
                  <a:srgbClr val="EEECE1"/>
                </a:solidFill>
                <a:latin typeface="Arimo"/>
                <a:ea typeface="Arimo"/>
                <a:cs typeface="Arimo"/>
                <a:sym typeface="Arimo"/>
              </a:rPr>
              <a:t> solution:-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4000" b="1" dirty="0" smtClean="0">
              <a:solidFill>
                <a:srgbClr val="EEECE1"/>
              </a:solidFill>
              <a:latin typeface="Arimo"/>
              <a:ea typeface="Arimo"/>
              <a:cs typeface="Arimo"/>
              <a:sym typeface="Arimo"/>
            </a:endParaRPr>
          </a:p>
          <a:p>
            <a:pPr lvl="0">
              <a:lnSpc>
                <a:spcPct val="120000"/>
              </a:lnSpc>
            </a:pPr>
            <a:r>
              <a:rPr lang="en-US" sz="3200" b="1" dirty="0">
                <a:solidFill>
                  <a:srgbClr val="EEECE1"/>
                </a:solidFill>
                <a:latin typeface="Arimo"/>
                <a:ea typeface="Arimo"/>
                <a:cs typeface="Arimo"/>
                <a:sym typeface="Arimo"/>
              </a:rPr>
              <a:t>Existing platforms show static or outdated data</a:t>
            </a:r>
          </a:p>
          <a:p>
            <a:pPr lvl="0">
              <a:lnSpc>
                <a:spcPct val="120000"/>
              </a:lnSpc>
            </a:pPr>
            <a:endParaRPr lang="en-US" sz="3200" b="1" dirty="0">
              <a:solidFill>
                <a:srgbClr val="EEECE1"/>
              </a:solidFill>
              <a:latin typeface="Arimo"/>
              <a:ea typeface="Arimo"/>
              <a:cs typeface="Arimo"/>
              <a:sym typeface="Arimo"/>
            </a:endParaRPr>
          </a:p>
          <a:p>
            <a:pPr lvl="0">
              <a:lnSpc>
                <a:spcPct val="120000"/>
              </a:lnSpc>
            </a:pPr>
            <a:r>
              <a:rPr lang="en-US" sz="3200" b="1" dirty="0" err="1">
                <a:solidFill>
                  <a:srgbClr val="EEECE1"/>
                </a:solidFill>
                <a:latin typeface="Arimo"/>
                <a:ea typeface="Arimo"/>
                <a:cs typeface="Arimo"/>
                <a:sym typeface="Arimo"/>
              </a:rPr>
              <a:t>LifeLink</a:t>
            </a:r>
            <a:r>
              <a:rPr lang="en-US" sz="3200" b="1" dirty="0">
                <a:solidFill>
                  <a:srgbClr val="EEECE1"/>
                </a:solidFill>
                <a:latin typeface="Arimo"/>
                <a:ea typeface="Arimo"/>
                <a:cs typeface="Arimo"/>
                <a:sym typeface="Arimo"/>
              </a:rPr>
              <a:t> provides real-time availability and action</a:t>
            </a:r>
          </a:p>
          <a:p>
            <a:pPr lvl="0">
              <a:lnSpc>
                <a:spcPct val="120000"/>
              </a:lnSpc>
            </a:pPr>
            <a:endParaRPr lang="en-US" sz="3200" b="1" dirty="0">
              <a:solidFill>
                <a:srgbClr val="EEECE1"/>
              </a:solidFill>
              <a:latin typeface="Arimo"/>
              <a:ea typeface="Arimo"/>
              <a:cs typeface="Arimo"/>
              <a:sym typeface="Arimo"/>
            </a:endParaRPr>
          </a:p>
          <a:p>
            <a:pPr lvl="0">
              <a:lnSpc>
                <a:spcPct val="120000"/>
              </a:lnSpc>
            </a:pPr>
            <a:r>
              <a:rPr lang="en-US" sz="3200" b="1" dirty="0">
                <a:solidFill>
                  <a:srgbClr val="EEECE1"/>
                </a:solidFill>
                <a:latin typeface="Arimo"/>
                <a:ea typeface="Arimo"/>
                <a:cs typeface="Arimo"/>
                <a:sym typeface="Arimo"/>
              </a:rPr>
              <a:t>Existing systems work in isolation</a:t>
            </a:r>
          </a:p>
          <a:p>
            <a:pPr lvl="0">
              <a:lnSpc>
                <a:spcPct val="120000"/>
              </a:lnSpc>
            </a:pPr>
            <a:endParaRPr lang="en-US" sz="3200" b="1" dirty="0">
              <a:solidFill>
                <a:srgbClr val="EEECE1"/>
              </a:solidFill>
              <a:latin typeface="Arimo"/>
              <a:ea typeface="Arimo"/>
              <a:cs typeface="Arimo"/>
              <a:sym typeface="Arimo"/>
            </a:endParaRPr>
          </a:p>
          <a:p>
            <a:pPr lvl="0">
              <a:lnSpc>
                <a:spcPct val="120000"/>
              </a:lnSpc>
            </a:pPr>
            <a:r>
              <a:rPr lang="en-US" sz="3200" b="1" dirty="0" err="1">
                <a:solidFill>
                  <a:srgbClr val="EEECE1"/>
                </a:solidFill>
                <a:latin typeface="Arimo"/>
                <a:ea typeface="Arimo"/>
                <a:cs typeface="Arimo"/>
                <a:sym typeface="Arimo"/>
              </a:rPr>
              <a:t>LifeLink</a:t>
            </a:r>
            <a:r>
              <a:rPr lang="en-US" sz="3200" b="1" dirty="0">
                <a:solidFill>
                  <a:srgbClr val="EEECE1"/>
                </a:solidFill>
                <a:latin typeface="Arimo"/>
                <a:ea typeface="Arimo"/>
                <a:cs typeface="Arimo"/>
                <a:sym typeface="Arimo"/>
              </a:rPr>
              <a:t> enables hospital-to-hospital and doctor-to-patient coordination</a:t>
            </a:r>
          </a:p>
          <a:p>
            <a:pPr lvl="0">
              <a:lnSpc>
                <a:spcPct val="120000"/>
              </a:lnSpc>
            </a:pPr>
            <a:endParaRPr lang="en-US" sz="3200" b="1" dirty="0">
              <a:solidFill>
                <a:srgbClr val="EEECE1"/>
              </a:solidFill>
              <a:latin typeface="Arimo"/>
              <a:ea typeface="Arimo"/>
              <a:cs typeface="Arimo"/>
              <a:sym typeface="Arimo"/>
            </a:endParaRPr>
          </a:p>
          <a:p>
            <a:pPr lvl="0">
              <a:lnSpc>
                <a:spcPct val="120000"/>
              </a:lnSpc>
            </a:pPr>
            <a:r>
              <a:rPr lang="en-US" sz="3200" b="1" dirty="0">
                <a:solidFill>
                  <a:srgbClr val="EEECE1"/>
                </a:solidFill>
                <a:latin typeface="Arimo"/>
                <a:ea typeface="Arimo"/>
                <a:cs typeface="Arimo"/>
                <a:sym typeface="Arimo"/>
              </a:rPr>
              <a:t>Existing apps lack trust proof</a:t>
            </a:r>
          </a:p>
          <a:p>
            <a:pPr lvl="0">
              <a:lnSpc>
                <a:spcPct val="120000"/>
              </a:lnSpc>
            </a:pPr>
            <a:endParaRPr lang="en-US" sz="3200" b="1" dirty="0">
              <a:solidFill>
                <a:srgbClr val="EEECE1"/>
              </a:solidFill>
              <a:latin typeface="Arimo"/>
              <a:ea typeface="Arimo"/>
              <a:cs typeface="Arimo"/>
              <a:sym typeface="Arimo"/>
            </a:endParaRPr>
          </a:p>
          <a:p>
            <a:pPr lvl="0">
              <a:lnSpc>
                <a:spcPct val="120000"/>
              </a:lnSpc>
            </a:pPr>
            <a:r>
              <a:rPr lang="en-US" sz="3200" b="1" dirty="0" err="1">
                <a:solidFill>
                  <a:srgbClr val="EEECE1"/>
                </a:solidFill>
                <a:latin typeface="Arimo"/>
                <a:ea typeface="Arimo"/>
                <a:cs typeface="Arimo"/>
                <a:sym typeface="Arimo"/>
              </a:rPr>
              <a:t>LifeLink</a:t>
            </a:r>
            <a:r>
              <a:rPr lang="en-US" sz="3200" b="1" dirty="0">
                <a:solidFill>
                  <a:srgbClr val="EEECE1"/>
                </a:solidFill>
                <a:latin typeface="Arimo"/>
                <a:ea typeface="Arimo"/>
                <a:cs typeface="Arimo"/>
                <a:sym typeface="Arimo"/>
              </a:rPr>
              <a:t> builds trust through visible impact history and transparency</a:t>
            </a:r>
          </a:p>
          <a:p>
            <a:pPr lvl="0">
              <a:lnSpc>
                <a:spcPct val="120000"/>
              </a:lnSpc>
            </a:pPr>
            <a:endParaRPr lang="en-US" sz="3200" b="1" dirty="0">
              <a:solidFill>
                <a:srgbClr val="EEECE1"/>
              </a:solidFill>
              <a:latin typeface="Arimo"/>
              <a:ea typeface="Arimo"/>
              <a:cs typeface="Arimo"/>
              <a:sym typeface="Arimo"/>
            </a:endParaRPr>
          </a:p>
          <a:p>
            <a:pPr lvl="0">
              <a:lnSpc>
                <a:spcPct val="120000"/>
              </a:lnSpc>
            </a:pPr>
            <a:r>
              <a:rPr lang="en-US" sz="3200" b="1" dirty="0" err="1">
                <a:solidFill>
                  <a:srgbClr val="EEECE1"/>
                </a:solidFill>
                <a:latin typeface="Arimo"/>
                <a:ea typeface="Arimo"/>
                <a:cs typeface="Arimo"/>
                <a:sym typeface="Arimo"/>
              </a:rPr>
              <a:t>LifeLink</a:t>
            </a:r>
            <a:r>
              <a:rPr lang="en-US" sz="3200" b="1" dirty="0">
                <a:solidFill>
                  <a:srgbClr val="EEECE1"/>
                </a:solidFill>
                <a:latin typeface="Arimo"/>
                <a:ea typeface="Arimo"/>
                <a:cs typeface="Arimo"/>
                <a:sym typeface="Arimo"/>
              </a:rPr>
              <a:t> functions as a national healthcare coordination layer, not just an app.</a:t>
            </a:r>
            <a:endParaRPr lang="en-US" sz="3200" b="1" i="0" u="none" strike="noStrike" cap="none" dirty="0" smtClean="0">
              <a:solidFill>
                <a:srgbClr val="EEECE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159" name="Google Shape;159;p5" title="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19950" y="395188"/>
            <a:ext cx="3119526" cy="129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6"/>
          <p:cNvGrpSpPr/>
          <p:nvPr/>
        </p:nvGrpSpPr>
        <p:grpSpPr>
          <a:xfrm>
            <a:off x="5175" y="19925"/>
            <a:ext cx="18307050" cy="10480642"/>
            <a:chOff x="0" y="0"/>
            <a:chExt cx="24409400" cy="13974190"/>
          </a:xfrm>
        </p:grpSpPr>
        <p:sp>
          <p:nvSpPr>
            <p:cNvPr id="169" name="Google Shape;169;p6"/>
            <p:cNvSpPr/>
            <p:nvPr/>
          </p:nvSpPr>
          <p:spPr>
            <a:xfrm>
              <a:off x="12700" y="12700"/>
              <a:ext cx="24384000" cy="13948790"/>
            </a:xfrm>
            <a:custGeom>
              <a:avLst/>
              <a:gdLst/>
              <a:ahLst/>
              <a:cxnLst/>
              <a:rect l="l" t="t" r="r" b="b"/>
              <a:pathLst>
                <a:path w="24384000" h="13948790" extrusionOk="0">
                  <a:moveTo>
                    <a:pt x="0" y="0"/>
                  </a:moveTo>
                  <a:lnTo>
                    <a:pt x="24384000" y="0"/>
                  </a:lnTo>
                  <a:lnTo>
                    <a:pt x="24384000" y="13948790"/>
                  </a:lnTo>
                  <a:lnTo>
                    <a:pt x="0" y="139487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70" name="Google Shape;170;p6"/>
            <p:cNvSpPr/>
            <p:nvPr/>
          </p:nvSpPr>
          <p:spPr>
            <a:xfrm>
              <a:off x="0" y="0"/>
              <a:ext cx="24409400" cy="13974190"/>
            </a:xfrm>
            <a:custGeom>
              <a:avLst/>
              <a:gdLst/>
              <a:ahLst/>
              <a:cxnLst/>
              <a:rect l="l" t="t" r="r" b="b"/>
              <a:pathLst>
                <a:path w="24409400" h="13974190" extrusionOk="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3961490"/>
                  </a:lnTo>
                  <a:cubicBezTo>
                    <a:pt x="24409400" y="13968476"/>
                    <a:pt x="24403686" y="13974190"/>
                    <a:pt x="24396700" y="13974190"/>
                  </a:cubicBezTo>
                  <a:lnTo>
                    <a:pt x="12700" y="13974190"/>
                  </a:lnTo>
                  <a:cubicBezTo>
                    <a:pt x="5715" y="13974190"/>
                    <a:pt x="0" y="13968476"/>
                    <a:pt x="0" y="1396149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3961490"/>
                  </a:lnTo>
                  <a:lnTo>
                    <a:pt x="12700" y="13961490"/>
                  </a:lnTo>
                  <a:lnTo>
                    <a:pt x="12700" y="13948790"/>
                  </a:lnTo>
                  <a:lnTo>
                    <a:pt x="24396700" y="13948790"/>
                  </a:lnTo>
                  <a:lnTo>
                    <a:pt x="24396700" y="13961490"/>
                  </a:lnTo>
                  <a:lnTo>
                    <a:pt x="24384000" y="1396149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F49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" name="Google Shape;171;p6"/>
          <p:cNvSpPr/>
          <p:nvPr/>
        </p:nvSpPr>
        <p:spPr>
          <a:xfrm>
            <a:off x="37050" y="29450"/>
            <a:ext cx="18288000" cy="10621041"/>
          </a:xfrm>
          <a:custGeom>
            <a:avLst/>
            <a:gdLst/>
            <a:ahLst/>
            <a:cxnLst/>
            <a:rect l="l" t="t" r="r" b="b"/>
            <a:pathLst>
              <a:path w="24384000" h="14161388" extrusionOk="0">
                <a:moveTo>
                  <a:pt x="0" y="0"/>
                </a:moveTo>
                <a:lnTo>
                  <a:pt x="24384000" y="0"/>
                </a:lnTo>
                <a:lnTo>
                  <a:pt x="24384000" y="14161388"/>
                </a:lnTo>
                <a:lnTo>
                  <a:pt x="0" y="141613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3000"/>
            </a:blip>
            <a:stretch>
              <a:fillRect l="-1595" r="-1595"/>
            </a:stretch>
          </a:blipFill>
          <a:ln>
            <a:noFill/>
          </a:ln>
        </p:spPr>
      </p:sp>
      <p:sp>
        <p:nvSpPr>
          <p:cNvPr id="172" name="Google Shape;172;p6"/>
          <p:cNvSpPr/>
          <p:nvPr/>
        </p:nvSpPr>
        <p:spPr>
          <a:xfrm>
            <a:off x="4877486" y="5301350"/>
            <a:ext cx="6204172" cy="4216510"/>
          </a:xfrm>
          <a:custGeom>
            <a:avLst/>
            <a:gdLst/>
            <a:ahLst/>
            <a:cxnLst/>
            <a:rect l="l" t="t" r="r" b="b"/>
            <a:pathLst>
              <a:path w="6204172" h="4216510" extrusionOk="0">
                <a:moveTo>
                  <a:pt x="0" y="0"/>
                </a:moveTo>
                <a:lnTo>
                  <a:pt x="6204172" y="0"/>
                </a:lnTo>
                <a:lnTo>
                  <a:pt x="6204172" y="4216510"/>
                </a:lnTo>
                <a:lnTo>
                  <a:pt x="0" y="42165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97379" t="-71985" r="-97379" b="-71982"/>
            </a:stretch>
          </a:blipFill>
          <a:ln>
            <a:noFill/>
          </a:ln>
        </p:spPr>
      </p:sp>
      <p:sp>
        <p:nvSpPr>
          <p:cNvPr id="173" name="Google Shape;173;p6"/>
          <p:cNvSpPr/>
          <p:nvPr/>
        </p:nvSpPr>
        <p:spPr>
          <a:xfrm>
            <a:off x="719150" y="769150"/>
            <a:ext cx="4787456" cy="4216813"/>
          </a:xfrm>
          <a:custGeom>
            <a:avLst/>
            <a:gdLst/>
            <a:ahLst/>
            <a:cxnLst/>
            <a:rect l="l" t="t" r="r" b="b"/>
            <a:pathLst>
              <a:path w="6383274" h="5622417" extrusionOk="0">
                <a:moveTo>
                  <a:pt x="0" y="434467"/>
                </a:moveTo>
                <a:cubicBezTo>
                  <a:pt x="0" y="194564"/>
                  <a:pt x="194564" y="0"/>
                  <a:pt x="434467" y="0"/>
                </a:cubicBezTo>
                <a:lnTo>
                  <a:pt x="5948807" y="0"/>
                </a:lnTo>
                <a:cubicBezTo>
                  <a:pt x="6188710" y="0"/>
                  <a:pt x="6383274" y="194564"/>
                  <a:pt x="6383274" y="434467"/>
                </a:cubicBezTo>
                <a:lnTo>
                  <a:pt x="6383274" y="5187950"/>
                </a:lnTo>
                <a:cubicBezTo>
                  <a:pt x="6383274" y="5427853"/>
                  <a:pt x="6188710" y="5622417"/>
                  <a:pt x="5948807" y="5622417"/>
                </a:cubicBezTo>
                <a:lnTo>
                  <a:pt x="434467" y="5622417"/>
                </a:lnTo>
                <a:cubicBezTo>
                  <a:pt x="194564" y="5622417"/>
                  <a:pt x="0" y="5427853"/>
                  <a:pt x="0" y="5187950"/>
                </a:cubicBezTo>
                <a:close/>
              </a:path>
            </a:pathLst>
          </a:custGeom>
          <a:solidFill>
            <a:srgbClr val="C724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5790825" y="690250"/>
            <a:ext cx="7086600" cy="4374642"/>
          </a:xfrm>
          <a:custGeom>
            <a:avLst/>
            <a:gdLst/>
            <a:ahLst/>
            <a:cxnLst/>
            <a:rect l="l" t="t" r="r" b="b"/>
            <a:pathLst>
              <a:path w="9448800" h="5832856" extrusionOk="0">
                <a:moveTo>
                  <a:pt x="0" y="450723"/>
                </a:moveTo>
                <a:cubicBezTo>
                  <a:pt x="0" y="201803"/>
                  <a:pt x="201803" y="0"/>
                  <a:pt x="450723" y="0"/>
                </a:cubicBezTo>
                <a:lnTo>
                  <a:pt x="8998077" y="0"/>
                </a:lnTo>
                <a:cubicBezTo>
                  <a:pt x="9246997" y="0"/>
                  <a:pt x="9448800" y="201803"/>
                  <a:pt x="9448800" y="450723"/>
                </a:cubicBezTo>
                <a:lnTo>
                  <a:pt x="9448800" y="5382133"/>
                </a:lnTo>
                <a:cubicBezTo>
                  <a:pt x="9448800" y="5631053"/>
                  <a:pt x="9246997" y="5832856"/>
                  <a:pt x="8998077" y="5832856"/>
                </a:cubicBezTo>
                <a:lnTo>
                  <a:pt x="450723" y="5832856"/>
                </a:lnTo>
                <a:cubicBezTo>
                  <a:pt x="201803" y="5832856"/>
                  <a:pt x="0" y="5631053"/>
                  <a:pt x="0" y="5382133"/>
                </a:cubicBezTo>
                <a:close/>
              </a:path>
            </a:pathLst>
          </a:custGeom>
          <a:solidFill>
            <a:srgbClr val="C724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622889" y="5260250"/>
            <a:ext cx="4912899" cy="4470397"/>
          </a:xfrm>
          <a:custGeom>
            <a:avLst/>
            <a:gdLst/>
            <a:ahLst/>
            <a:cxnLst/>
            <a:rect l="l" t="t" r="r" b="b"/>
            <a:pathLst>
              <a:path w="6410220" h="5832856" extrusionOk="0">
                <a:moveTo>
                  <a:pt x="0" y="401447"/>
                </a:moveTo>
                <a:cubicBezTo>
                  <a:pt x="0" y="179705"/>
                  <a:pt x="221734" y="0"/>
                  <a:pt x="495336" y="0"/>
                </a:cubicBezTo>
                <a:lnTo>
                  <a:pt x="5914884" y="0"/>
                </a:lnTo>
                <a:cubicBezTo>
                  <a:pt x="6188486" y="0"/>
                  <a:pt x="6410220" y="179705"/>
                  <a:pt x="6410220" y="401447"/>
                </a:cubicBezTo>
                <a:lnTo>
                  <a:pt x="6410220" y="5431409"/>
                </a:lnTo>
                <a:cubicBezTo>
                  <a:pt x="6410220" y="5653151"/>
                  <a:pt x="6188486" y="5832856"/>
                  <a:pt x="5914884" y="5832856"/>
                </a:cubicBezTo>
                <a:lnTo>
                  <a:pt x="495336" y="5832856"/>
                </a:lnTo>
                <a:cubicBezTo>
                  <a:pt x="221734" y="5832856"/>
                  <a:pt x="0" y="5653024"/>
                  <a:pt x="0" y="5431409"/>
                </a:cubicBezTo>
                <a:close/>
              </a:path>
            </a:pathLst>
          </a:custGeom>
          <a:solidFill>
            <a:srgbClr val="C724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13871681" y="6891220"/>
            <a:ext cx="3896392" cy="1380258"/>
          </a:xfrm>
          <a:custGeom>
            <a:avLst/>
            <a:gdLst/>
            <a:ahLst/>
            <a:cxnLst/>
            <a:rect l="l" t="t" r="r" b="b"/>
            <a:pathLst>
              <a:path w="5195189" h="1840344" extrusionOk="0">
                <a:moveTo>
                  <a:pt x="0" y="274658"/>
                </a:moveTo>
                <a:cubicBezTo>
                  <a:pt x="0" y="122923"/>
                  <a:pt x="115951" y="0"/>
                  <a:pt x="259080" y="0"/>
                </a:cubicBezTo>
                <a:lnTo>
                  <a:pt x="4936109" y="0"/>
                </a:lnTo>
                <a:cubicBezTo>
                  <a:pt x="5079238" y="0"/>
                  <a:pt x="5195189" y="122923"/>
                  <a:pt x="5195189" y="274658"/>
                </a:cubicBezTo>
                <a:lnTo>
                  <a:pt x="5195189" y="1565686"/>
                </a:lnTo>
                <a:cubicBezTo>
                  <a:pt x="5195189" y="1717421"/>
                  <a:pt x="5079238" y="1840344"/>
                  <a:pt x="4936109" y="1840344"/>
                </a:cubicBezTo>
                <a:lnTo>
                  <a:pt x="259080" y="1840344"/>
                </a:lnTo>
                <a:cubicBezTo>
                  <a:pt x="115951" y="1840344"/>
                  <a:pt x="0" y="1717421"/>
                  <a:pt x="0" y="1565686"/>
                </a:cubicBezTo>
                <a:close/>
              </a:path>
            </a:pathLst>
          </a:custGeom>
          <a:solidFill>
            <a:srgbClr val="EEEC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6"/>
          <p:cNvSpPr txBox="1"/>
          <p:nvPr/>
        </p:nvSpPr>
        <p:spPr>
          <a:xfrm>
            <a:off x="14035656" y="7185166"/>
            <a:ext cx="3568450" cy="7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TECH STACK</a:t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13345886" y="769150"/>
            <a:ext cx="4223412" cy="4374642"/>
          </a:xfrm>
          <a:custGeom>
            <a:avLst/>
            <a:gdLst/>
            <a:ahLst/>
            <a:cxnLst/>
            <a:rect l="l" t="t" r="r" b="b"/>
            <a:pathLst>
              <a:path w="5876798" h="5832856" extrusionOk="0">
                <a:moveTo>
                  <a:pt x="0" y="450723"/>
                </a:moveTo>
                <a:cubicBezTo>
                  <a:pt x="0" y="201803"/>
                  <a:pt x="201803" y="0"/>
                  <a:pt x="450723" y="0"/>
                </a:cubicBezTo>
                <a:lnTo>
                  <a:pt x="5426075" y="0"/>
                </a:lnTo>
                <a:cubicBezTo>
                  <a:pt x="5674995" y="0"/>
                  <a:pt x="5876798" y="201803"/>
                  <a:pt x="5876798" y="450723"/>
                </a:cubicBezTo>
                <a:lnTo>
                  <a:pt x="5876798" y="5382133"/>
                </a:lnTo>
                <a:cubicBezTo>
                  <a:pt x="5876798" y="5631053"/>
                  <a:pt x="5674995" y="5832856"/>
                  <a:pt x="5426075" y="5832856"/>
                </a:cubicBezTo>
                <a:lnTo>
                  <a:pt x="450723" y="5832856"/>
                </a:lnTo>
                <a:cubicBezTo>
                  <a:pt x="201803" y="5832856"/>
                  <a:pt x="0" y="5631053"/>
                  <a:pt x="0" y="5382133"/>
                </a:cubicBezTo>
                <a:close/>
              </a:path>
            </a:pathLst>
          </a:custGeom>
          <a:solidFill>
            <a:srgbClr val="C724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3200" dirty="0"/>
              <a:t>Maps, notifications, hospital systems</a:t>
            </a:r>
            <a:endParaRPr lang="en-US" sz="3200" dirty="0" smtClean="0"/>
          </a:p>
        </p:txBody>
      </p:sp>
      <p:sp>
        <p:nvSpPr>
          <p:cNvPr id="179" name="Google Shape;179;p6"/>
          <p:cNvSpPr txBox="1"/>
          <p:nvPr/>
        </p:nvSpPr>
        <p:spPr>
          <a:xfrm>
            <a:off x="6685181" y="1340180"/>
            <a:ext cx="4385150" cy="2400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9" b="1" i="0" u="none" strike="noStrike" cap="none" dirty="0" smtClea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Backend </a:t>
            </a:r>
          </a:p>
          <a:p>
            <a:pPr lvl="0" algn="ctr">
              <a:lnSpc>
                <a:spcPct val="120005"/>
              </a:lnSpc>
            </a:pPr>
            <a:r>
              <a:rPr lang="en-US" sz="3200" dirty="0"/>
              <a:t>Node.js / Spring Boot, Secure REST APIs, Role-based access</a:t>
            </a:r>
            <a:endParaRPr sz="3200" dirty="0"/>
          </a:p>
        </p:txBody>
      </p:sp>
      <p:sp>
        <p:nvSpPr>
          <p:cNvPr id="180" name="Google Shape;180;p6"/>
          <p:cNvSpPr/>
          <p:nvPr/>
        </p:nvSpPr>
        <p:spPr>
          <a:xfrm>
            <a:off x="5790825" y="5549669"/>
            <a:ext cx="7086613" cy="4276913"/>
          </a:xfrm>
          <a:custGeom>
            <a:avLst/>
            <a:gdLst/>
            <a:ahLst/>
            <a:cxnLst/>
            <a:rect l="l" t="t" r="r" b="b"/>
            <a:pathLst>
              <a:path w="9803400" h="5916549" extrusionOk="0">
                <a:moveTo>
                  <a:pt x="0" y="457196"/>
                </a:moveTo>
                <a:cubicBezTo>
                  <a:pt x="0" y="204742"/>
                  <a:pt x="230583" y="0"/>
                  <a:pt x="514899" y="0"/>
                </a:cubicBezTo>
                <a:lnTo>
                  <a:pt x="9288504" y="0"/>
                </a:lnTo>
                <a:cubicBezTo>
                  <a:pt x="9572820" y="0"/>
                  <a:pt x="9803400" y="204742"/>
                  <a:pt x="9803400" y="457196"/>
                </a:cubicBezTo>
                <a:lnTo>
                  <a:pt x="9803400" y="5459354"/>
                </a:lnTo>
                <a:cubicBezTo>
                  <a:pt x="9803400" y="5711808"/>
                  <a:pt x="9572820" y="5916549"/>
                  <a:pt x="9288504" y="5916549"/>
                </a:cubicBezTo>
                <a:lnTo>
                  <a:pt x="514899" y="5916549"/>
                </a:lnTo>
                <a:cubicBezTo>
                  <a:pt x="230583" y="5916549"/>
                  <a:pt x="0" y="5711808"/>
                  <a:pt x="0" y="5459354"/>
                </a:cubicBezTo>
                <a:close/>
              </a:path>
            </a:pathLst>
          </a:custGeom>
          <a:solidFill>
            <a:srgbClr val="C724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6"/>
          <p:cNvSpPr txBox="1"/>
          <p:nvPr/>
        </p:nvSpPr>
        <p:spPr>
          <a:xfrm>
            <a:off x="6808720" y="6096557"/>
            <a:ext cx="5008995" cy="1787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77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DevOps and </a:t>
            </a:r>
            <a:r>
              <a:rPr lang="en-US" sz="3277" b="1" i="0" u="none" strike="noStrike" cap="none" dirty="0" err="1" smtClea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Depolyment</a:t>
            </a:r>
            <a:r>
              <a:rPr lang="en-US" sz="3277" b="1" i="0" u="none" strike="noStrike" cap="none" dirty="0" smtClea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lvl="0" algn="ctr">
              <a:lnSpc>
                <a:spcPct val="119987"/>
              </a:lnSpc>
            </a:pPr>
            <a:r>
              <a:rPr lang="en-US" sz="3200" dirty="0"/>
              <a:t>Cloud hosting (AWS/GCP), Docker, CI/CD pipelines</a:t>
            </a:r>
            <a:endParaRPr sz="3200" dirty="0"/>
          </a:p>
        </p:txBody>
      </p:sp>
      <p:sp>
        <p:nvSpPr>
          <p:cNvPr id="182" name="Google Shape;182;p6"/>
          <p:cNvSpPr txBox="1"/>
          <p:nvPr/>
        </p:nvSpPr>
        <p:spPr>
          <a:xfrm>
            <a:off x="854545" y="5342083"/>
            <a:ext cx="4449597" cy="6032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74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and Machine </a:t>
            </a:r>
            <a:r>
              <a:rPr lang="en-US" sz="3474" b="1" i="0" u="none" strike="noStrike" cap="none" dirty="0" smtClea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Learning</a:t>
            </a:r>
          </a:p>
          <a:p>
            <a:pPr lvl="0" algn="ctr">
              <a:lnSpc>
                <a:spcPct val="120005"/>
              </a:lnSpc>
            </a:pPr>
            <a:r>
              <a:rPr lang="en-US" sz="3474" b="1" dirty="0">
                <a:solidFill>
                  <a:schemeClr val="tx1"/>
                </a:solidFill>
              </a:rPr>
              <a:t>Demand prediction, donor–doctor matching, explainable AI </a:t>
            </a:r>
            <a:endParaRPr lang="en-US" sz="3474" b="1" i="0" u="none" strike="noStrike" cap="none" dirty="0" smtClean="0">
              <a:solidFill>
                <a:schemeClr val="tx1"/>
              </a:solidFill>
              <a:sym typeface="Arial"/>
            </a:endParaRPr>
          </a:p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474" b="1" dirty="0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474" b="1" dirty="0" smtClean="0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474" b="1" dirty="0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3" name="Google Shape;183;p6"/>
          <p:cNvSpPr txBox="1"/>
          <p:nvPr/>
        </p:nvSpPr>
        <p:spPr>
          <a:xfrm>
            <a:off x="13598433" y="1380098"/>
            <a:ext cx="35289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9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APIs &amp; Integrations</a:t>
            </a:r>
            <a:endParaRPr dirty="0"/>
          </a:p>
        </p:txBody>
      </p:sp>
      <p:sp>
        <p:nvSpPr>
          <p:cNvPr id="184" name="Google Shape;184;p6"/>
          <p:cNvSpPr txBox="1"/>
          <p:nvPr/>
        </p:nvSpPr>
        <p:spPr>
          <a:xfrm>
            <a:off x="1327583" y="1345948"/>
            <a:ext cx="3528950" cy="358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9" b="1" i="0" u="none" strike="noStrike" cap="none" dirty="0" smtClea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Frontend </a:t>
            </a:r>
          </a:p>
          <a:p>
            <a:pPr lvl="0" algn="ctr">
              <a:lnSpc>
                <a:spcPct val="120005"/>
              </a:lnSpc>
            </a:pPr>
            <a:r>
              <a:rPr lang="en-US" sz="3200" dirty="0"/>
              <a:t>React-based responsive web application with real-time dashboards</a:t>
            </a:r>
            <a:endParaRPr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"/>
          <p:cNvSpPr/>
          <p:nvPr/>
        </p:nvSpPr>
        <p:spPr>
          <a:xfrm>
            <a:off x="34495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4" name="Google Shape;194;p7"/>
          <p:cNvSpPr txBox="1"/>
          <p:nvPr/>
        </p:nvSpPr>
        <p:spPr>
          <a:xfrm>
            <a:off x="1776325" y="2455376"/>
            <a:ext cx="14037150" cy="96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 b="1" i="0" u="none" strike="noStrike" cap="none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Team Name: </a:t>
            </a:r>
            <a:r>
              <a:rPr lang="en-US" sz="5200" b="1" i="0" u="none" strike="noStrike" cap="none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Code fusion</a:t>
            </a:r>
            <a:endParaRPr dirty="0"/>
          </a:p>
        </p:txBody>
      </p:sp>
      <p:sp>
        <p:nvSpPr>
          <p:cNvPr id="195" name="Google Shape;195;p7"/>
          <p:cNvSpPr txBox="1"/>
          <p:nvPr/>
        </p:nvSpPr>
        <p:spPr>
          <a:xfrm>
            <a:off x="1028700" y="4239627"/>
            <a:ext cx="3032550" cy="310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Name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200" dirty="0" err="1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G.</a:t>
            </a:r>
            <a:r>
              <a:rPr lang="en-US" sz="2200" b="0" i="0" u="none" strike="noStrike" cap="none" dirty="0" err="1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Hima</a:t>
            </a:r>
            <a:r>
              <a:rPr lang="en-US" sz="2200" b="0" i="0" u="none" strike="noStrike" cap="none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200" b="0" i="0" u="none" strike="noStrike" cap="none" dirty="0" err="1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varshini</a:t>
            </a:r>
            <a:r>
              <a:rPr lang="en-US" sz="2200" b="0" i="0" u="none" strike="noStrike" cap="none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err="1" smtClean="0">
                <a:solidFill>
                  <a:srgbClr val="FFFFFF"/>
                </a:solidFill>
                <a:latin typeface="Raleway"/>
                <a:sym typeface="Raleway"/>
              </a:rPr>
              <a:t>M.Bhargava</a:t>
            </a:r>
            <a:endParaRPr lang="en-US" sz="2200" dirty="0" smtClean="0">
              <a:solidFill>
                <a:srgbClr val="FFFFFF"/>
              </a:solidFill>
              <a:latin typeface="Raleway"/>
              <a:sym typeface="Raleway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err="1" smtClean="0">
                <a:solidFill>
                  <a:srgbClr val="FFFFFF"/>
                </a:solidFill>
                <a:latin typeface="Raleway"/>
                <a:sym typeface="Raleway"/>
              </a:rPr>
              <a:t>T.Jayaprakash</a:t>
            </a:r>
            <a:r>
              <a:rPr lang="en-US" sz="2200" dirty="0" smtClean="0">
                <a:solidFill>
                  <a:srgbClr val="FFFFFF"/>
                </a:solidFill>
                <a:latin typeface="Raleway"/>
                <a:sym typeface="Raleway"/>
              </a:rPr>
              <a:t> </a:t>
            </a:r>
            <a:r>
              <a:rPr lang="en-US" sz="2200" dirty="0" err="1" smtClean="0">
                <a:solidFill>
                  <a:srgbClr val="FFFFFF"/>
                </a:solidFill>
                <a:latin typeface="Raleway"/>
                <a:sym typeface="Raleway"/>
              </a:rPr>
              <a:t>narayana</a:t>
            </a:r>
            <a:endParaRPr lang="en-US" sz="2200" dirty="0" smtClean="0">
              <a:solidFill>
                <a:srgbClr val="FFFFFF"/>
              </a:solidFill>
              <a:latin typeface="Raleway"/>
              <a:sym typeface="Raleway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err="1" smtClean="0">
                <a:solidFill>
                  <a:srgbClr val="FFFFFF"/>
                </a:solidFill>
                <a:latin typeface="Raleway"/>
                <a:sym typeface="Raleway"/>
              </a:rPr>
              <a:t>A.Jagan</a:t>
            </a:r>
            <a:endParaRPr lang="en-US" sz="2200" dirty="0" smtClean="0">
              <a:solidFill>
                <a:srgbClr val="FFFFFF"/>
              </a:solidFill>
              <a:latin typeface="Raleway"/>
              <a:sym typeface="Raleway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err="1" smtClean="0">
                <a:solidFill>
                  <a:srgbClr val="FFFFFF"/>
                </a:solidFill>
                <a:latin typeface="Raleway"/>
                <a:sym typeface="Raleway"/>
              </a:rPr>
              <a:t>L.Chandu</a:t>
            </a:r>
            <a:endParaRPr lang="en-US" sz="2200" dirty="0" smtClean="0">
              <a:solidFill>
                <a:srgbClr val="FFFFFF"/>
              </a:solidFill>
              <a:latin typeface="Raleway"/>
              <a:sym typeface="Raleway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6" name="Google Shape;196;p7"/>
          <p:cNvSpPr txBox="1"/>
          <p:nvPr/>
        </p:nvSpPr>
        <p:spPr>
          <a:xfrm>
            <a:off x="4589948" y="4239627"/>
            <a:ext cx="3529211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College </a:t>
            </a:r>
            <a:r>
              <a:rPr lang="en-US" sz="2200" b="0" i="0" u="none" strike="noStrike" cap="none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Name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200" dirty="0">
              <a:solidFill>
                <a:srgbClr val="FFFFFF"/>
              </a:solidFill>
              <a:latin typeface="Raleway"/>
              <a:sym typeface="Raleway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err="1" smtClean="0">
                <a:solidFill>
                  <a:srgbClr val="FFFFFF"/>
                </a:solidFill>
                <a:latin typeface="Raleway"/>
                <a:sym typeface="Raleway"/>
              </a:rPr>
              <a:t>Siddharth</a:t>
            </a:r>
            <a:r>
              <a:rPr lang="en-US" sz="2200" dirty="0" smtClean="0">
                <a:solidFill>
                  <a:srgbClr val="FFFFFF"/>
                </a:solidFill>
                <a:latin typeface="Raleway"/>
                <a:sym typeface="Raleway"/>
              </a:rPr>
              <a:t> institution of scienc</a:t>
            </a:r>
            <a:r>
              <a:rPr lang="en-US" sz="2200" dirty="0" smtClean="0">
                <a:solidFill>
                  <a:srgbClr val="FFFFFF"/>
                </a:solidFill>
                <a:latin typeface="Raleway"/>
                <a:sym typeface="Raleway"/>
              </a:rPr>
              <a:t>e and technology</a:t>
            </a:r>
            <a:endParaRPr dirty="0"/>
          </a:p>
        </p:txBody>
      </p:sp>
      <p:sp>
        <p:nvSpPr>
          <p:cNvPr id="197" name="Google Shape;197;p7"/>
          <p:cNvSpPr txBox="1"/>
          <p:nvPr/>
        </p:nvSpPr>
        <p:spPr>
          <a:xfrm>
            <a:off x="8652559" y="4239627"/>
            <a:ext cx="2299350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College </a:t>
            </a:r>
            <a:r>
              <a:rPr lang="en-US" sz="2200" b="0" i="0" u="none" strike="noStrike" cap="none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Location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200" dirty="0">
              <a:solidFill>
                <a:srgbClr val="FFFFFF"/>
              </a:solidFill>
              <a:latin typeface="Raleway"/>
              <a:sym typeface="Raleway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err="1" smtClean="0">
                <a:solidFill>
                  <a:srgbClr val="FFFFFF"/>
                </a:solidFill>
                <a:latin typeface="Raleway"/>
                <a:sym typeface="Raleway"/>
              </a:rPr>
              <a:t>Puttur</a:t>
            </a:r>
            <a:r>
              <a:rPr lang="en-US" sz="2200" dirty="0" smtClean="0">
                <a:solidFill>
                  <a:srgbClr val="FFFFFF"/>
                </a:solidFill>
                <a:latin typeface="Raleway"/>
                <a:sym typeface="Raleway"/>
              </a:rPr>
              <a:t>,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err="1" smtClean="0">
                <a:solidFill>
                  <a:srgbClr val="FFFFFF"/>
                </a:solidFill>
                <a:latin typeface="Raleway"/>
                <a:sym typeface="Raleway"/>
              </a:rPr>
              <a:t>narayanavanam</a:t>
            </a:r>
            <a:endParaRPr dirty="0"/>
          </a:p>
        </p:txBody>
      </p:sp>
      <p:sp>
        <p:nvSpPr>
          <p:cNvPr id="198" name="Google Shape;198;p7"/>
          <p:cNvSpPr txBox="1"/>
          <p:nvPr/>
        </p:nvSpPr>
        <p:spPr>
          <a:xfrm>
            <a:off x="12320604" y="4239627"/>
            <a:ext cx="2299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200" b="0" i="0" u="none" strike="noStrike" cap="none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Position</a:t>
            </a:r>
            <a:endParaRPr dirty="0"/>
          </a:p>
        </p:txBody>
      </p:sp>
      <p:sp>
        <p:nvSpPr>
          <p:cNvPr id="199" name="Google Shape;199;p7"/>
          <p:cNvSpPr txBox="1"/>
          <p:nvPr/>
        </p:nvSpPr>
        <p:spPr>
          <a:xfrm>
            <a:off x="15317234" y="4239627"/>
            <a:ext cx="2299350" cy="2843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 smtClean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Gender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smtClean="0">
                <a:solidFill>
                  <a:srgbClr val="FFFFFF"/>
                </a:solidFill>
                <a:latin typeface="Raleway"/>
                <a:sym typeface="Raleway"/>
              </a:rPr>
              <a:t>Female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smtClean="0">
                <a:solidFill>
                  <a:srgbClr val="FFFFFF"/>
                </a:solidFill>
                <a:latin typeface="Raleway"/>
                <a:sym typeface="Raleway"/>
              </a:rPr>
              <a:t>Male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smtClean="0">
                <a:solidFill>
                  <a:srgbClr val="FFFFFF"/>
                </a:solidFill>
                <a:latin typeface="Raleway"/>
                <a:sym typeface="Raleway"/>
              </a:rPr>
              <a:t>Male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200" dirty="0">
              <a:solidFill>
                <a:srgbClr val="FFFFFF"/>
              </a:solidFill>
              <a:latin typeface="Raleway"/>
              <a:sym typeface="Raleway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smtClean="0">
                <a:solidFill>
                  <a:srgbClr val="FFFFFF"/>
                </a:solidFill>
                <a:latin typeface="Raleway"/>
                <a:sym typeface="Raleway"/>
              </a:rPr>
              <a:t>Male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smtClean="0">
                <a:solidFill>
                  <a:srgbClr val="FFFFFF"/>
                </a:solidFill>
                <a:latin typeface="Raleway"/>
                <a:sym typeface="Raleway"/>
              </a:rPr>
              <a:t>Female</a:t>
            </a:r>
            <a:endParaRPr dirty="0"/>
          </a:p>
        </p:txBody>
      </p:sp>
      <p:sp>
        <p:nvSpPr>
          <p:cNvPr id="200" name="Google Shape;200;p7"/>
          <p:cNvSpPr txBox="1"/>
          <p:nvPr/>
        </p:nvSpPr>
        <p:spPr>
          <a:xfrm>
            <a:off x="12320604" y="4974152"/>
            <a:ext cx="2299500" cy="24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smtClean="0">
                <a:solidFill>
                  <a:srgbClr val="FFFFFF"/>
                </a:solidFill>
                <a:latin typeface="Raleway"/>
                <a:sym typeface="Raleway"/>
              </a:rPr>
              <a:t>Frontend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smtClean="0">
                <a:solidFill>
                  <a:srgbClr val="FFFFFF"/>
                </a:solidFill>
                <a:latin typeface="Raleway"/>
                <a:sym typeface="Raleway"/>
              </a:rPr>
              <a:t>Backend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err="1" smtClean="0">
                <a:solidFill>
                  <a:srgbClr val="FFFFFF"/>
                </a:solidFill>
                <a:latin typeface="Raleway"/>
                <a:sym typeface="Raleway"/>
              </a:rPr>
              <a:t>Databse</a:t>
            </a:r>
            <a:endParaRPr lang="en-US" sz="2200" dirty="0" smtClean="0">
              <a:solidFill>
                <a:srgbClr val="FFFFFF"/>
              </a:solidFill>
              <a:latin typeface="Raleway"/>
              <a:sym typeface="Raleway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err="1" smtClean="0">
                <a:solidFill>
                  <a:srgbClr val="FFFFFF"/>
                </a:solidFill>
                <a:latin typeface="Raleway"/>
                <a:sym typeface="Raleway"/>
              </a:rPr>
              <a:t>Ppts</a:t>
            </a:r>
            <a:endParaRPr lang="en-US" sz="2200" dirty="0" smtClean="0">
              <a:solidFill>
                <a:srgbClr val="FFFFFF"/>
              </a:solidFill>
              <a:latin typeface="Raleway"/>
              <a:sym typeface="Raleway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 err="1" smtClean="0">
                <a:solidFill>
                  <a:srgbClr val="FFFFFF"/>
                </a:solidFill>
                <a:latin typeface="Raleway"/>
                <a:sym typeface="Raleway"/>
              </a:rPr>
              <a:t>Viseo</a:t>
            </a:r>
            <a:r>
              <a:rPr lang="en-US" sz="2200" dirty="0" smtClean="0">
                <a:solidFill>
                  <a:srgbClr val="FFFFFF"/>
                </a:solidFill>
                <a:latin typeface="Raleway"/>
                <a:sym typeface="Raleway"/>
              </a:rPr>
              <a:t> generations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372</Words>
  <Application>Microsoft Office PowerPoint</Application>
  <PresentationFormat>Custom</PresentationFormat>
  <Paragraphs>116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Arimo</vt:lpstr>
      <vt:lpstr>Calibri</vt:lpstr>
      <vt:lpstr>Montserrat</vt:lpstr>
      <vt:lpstr>Raleway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4</cp:revision>
  <dcterms:created xsi:type="dcterms:W3CDTF">2006-08-16T00:00:00Z</dcterms:created>
  <dcterms:modified xsi:type="dcterms:W3CDTF">2026-01-31T12:37:30Z</dcterms:modified>
</cp:coreProperties>
</file>